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title. One line: municipalities cannot segregate waste, and we built software that does it from a photograph, with no hardware on any 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sections, following the department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numbers off the right. Stress that participatory sensing replaces per-bin hardware — that is the title of the paper and the core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points. The fourth is the pivot into our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publication years against the sources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1 is the one the whole architecture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map one-to-one onto the five modules on the architecture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matters in a viva: without group-aware splitting the test score measures memorisation of near-duplicate 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arrows left to right. The two cards below answer the two questions examiners ask about this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M2's four rules and M4's hash chain are the two places to slow down — both are anti-gaming measures an examiner will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round these up. Presenting the limits is what makes the rest credible, and it answers the question an examiner was going to ask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claims, each one backed by a number already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the first item: the honest score needs our own photographs, and that is the next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3824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3822192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5" name="Shape 3"/>
          <p:cNvSpPr/>
          <p:nvPr/>
        </p:nvSpPr>
        <p:spPr>
          <a:xfrm>
            <a:off x="5138928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5797296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6455664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7114032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A16207"/>
          </a:solidFill>
          <a:ln/>
        </p:spPr>
      </p:sp>
      <p:sp>
        <p:nvSpPr>
          <p:cNvPr id="10" name="Shape 8"/>
          <p:cNvSpPr/>
          <p:nvPr/>
        </p:nvSpPr>
        <p:spPr>
          <a:xfrm>
            <a:off x="8430768" y="960120"/>
            <a:ext cx="566928" cy="914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0" y="14630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LifeLoop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2402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and Participatory-Sensing Based Circular Economy Platform</a:t>
            </a:r>
            <a:endParaRPr lang="en-US" sz="18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Municipal Solid Waste Management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40680" y="3310128"/>
            <a:ext cx="12801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0" y="3611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39319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IV/IV B.Tech  ·  2nd Semester Project Work  ·  1st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64592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No: [BATCH]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08406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  [ROLL]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2]  [ROLL]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3]  [ROLL]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4]  [ROLL]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45720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084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[GUIDE NAME]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 [DESIGNATION]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5742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SRKR Engineering College, Bhimavaram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6184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4597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8269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300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1239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1422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96519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9834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16184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24597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17920" y="328269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3300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17920" y="412394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41422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6217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segregation fails at the bin.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wet waste soaks the paper in a mixed bag, the recyclable fraction is worth almost nothing, and nothing downstream can undo it.
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LifeLoop is a software-only platform that photographs a mixed pile and returns a per-item material breakdown. A class-agnostic detector locates every discardable object; a separate classifier names the material of each crop. Splitting the problem this way is what makes pile segregation possible — a single classifier returns one label for the whole frame.
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level comes from geotagged citizen reports rather than bin sensors, weighted by each reporter's accepted-report history. Those reports drive collection routing, an item exchange, and a tamper-evident work record for waste collectors.
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data the classifier reaches 0.848 accuracy and 0.835 macro-F1 over nine materials, with calibration error reduced from 0.073 to 0.018. The detector reaches 0.746 mAP50. Route simulation shows 26.5% mean distance saved against a fixed circuit.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1481328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01000" y="1591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1591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macro-F1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0" y="2542032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010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4640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mAP50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3602736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01000" y="37124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37124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saved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46634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1B1130"/>
          </a:solidFill>
          <a:ln w="12700">
            <a:solidFill>
              <a:srgbClr val="1B113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01000" y="4773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4773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per bin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4813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fails where it is decided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7922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made at the bin by someone unsure which side an item belongs on. By the transfer station it is too late.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4261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6060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bin is full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91693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runs a fixed circuit, so trucks empty quarter-full bins and miss overflowing ones. Fill-level sensors cost money per bin, forever.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6732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73075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have no record of their work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0416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waste collectors move most of what is actually recycled, and almost none of it is documented.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85546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 already carries the answer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1663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about to throw something away is holding a camera. The missing piece is a model that reads a mixed pile rather than one clean object.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411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1481328"/>
            <a:ext cx="283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51560" y="1481328"/>
            <a:ext cx="22402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148132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481328"/>
            <a:ext cx="5486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55848" y="14813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0" y="1481328"/>
            <a:ext cx="20116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04488" y="14813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481328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16168" y="148132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0" y="1481328"/>
            <a:ext cx="29260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59368" y="148132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for our problem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1865376"/>
            <a:ext cx="4114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" y="1865376"/>
            <a:ext cx="283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051560" y="1865376"/>
            <a:ext cx="22402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15568" y="1865376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TrashNet — Yang &amp; Thung, Stanford CS229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291840" y="1865376"/>
            <a:ext cx="5486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55848" y="1865376"/>
            <a:ext cx="420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840480" y="1865376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04488" y="1865376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and SVM on 2,527 images, 6 classes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852160" y="1865376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16168" y="1865376"/>
            <a:ext cx="2615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benchmark for waste image classification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595360" y="1865376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59368" y="1865376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photographs on white; one clean item per frame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0080" y="2532888"/>
            <a:ext cx="4114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" y="2532888"/>
            <a:ext cx="283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051560" y="2532888"/>
            <a:ext cx="22402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15568" y="2532888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 — Proença &amp; Simões, arXiv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291840" y="2532888"/>
            <a:ext cx="54864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55848" y="2532888"/>
            <a:ext cx="420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840480" y="2532888"/>
            <a:ext cx="20116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04488" y="2532888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litter photographs, COCO-style boxes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852160" y="2532888"/>
            <a:ext cx="274320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16168" y="2532888"/>
            <a:ext cx="2615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Litter in real scenes, dirty and deformed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595360" y="2532888"/>
            <a:ext cx="29260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59368" y="2532888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only; no material label per object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40080" y="3200400"/>
            <a:ext cx="4114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4088" y="3200400"/>
            <a:ext cx="283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1051560" y="3200400"/>
            <a:ext cx="22402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15568" y="3200400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Images V4 — Kuznetsova et al., IJCV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3291840" y="3200400"/>
            <a:ext cx="5486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55848" y="3200400"/>
            <a:ext cx="420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3840480" y="3200400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904488" y="3200400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 images, 600 boxable classes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852160" y="3200400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16168" y="3200400"/>
            <a:ext cx="2615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everyday-object coverage with boxes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595360" y="3200400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59368" y="3200400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in use, not discarded; material is implicit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40080" y="3867912"/>
            <a:ext cx="4114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4088" y="3867912"/>
            <a:ext cx="283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1051560" y="3867912"/>
            <a:ext cx="22402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115568" y="3867912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— Howard et al., ICCV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3291840" y="3867912"/>
            <a:ext cx="54864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55848" y="3867912"/>
            <a:ext cx="420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3840480" y="3867912"/>
            <a:ext cx="20116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04488" y="3867912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NAS-designed efficient CNN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5852160" y="3867912"/>
            <a:ext cx="274320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916168" y="3867912"/>
            <a:ext cx="2615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at phone-scale compute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8595360" y="3867912"/>
            <a:ext cx="29260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59368" y="3867912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label per image; cannot segregate a pile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640080" y="4535424"/>
            <a:ext cx="4114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04088" y="4535424"/>
            <a:ext cx="283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1051560" y="4535424"/>
            <a:ext cx="22402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15568" y="4535424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— Jocher et al., Ultralytics</a:t>
            </a:r>
            <a:endParaRPr lang="en-US" sz="980" dirty="0"/>
          </a:p>
        </p:txBody>
      </p:sp>
      <p:sp>
        <p:nvSpPr>
          <p:cNvPr id="68" name="Shape 66"/>
          <p:cNvSpPr/>
          <p:nvPr/>
        </p:nvSpPr>
        <p:spPr>
          <a:xfrm>
            <a:off x="3291840" y="4535424"/>
            <a:ext cx="5486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355848" y="4535424"/>
            <a:ext cx="420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80" dirty="0"/>
          </a:p>
        </p:txBody>
      </p:sp>
      <p:sp>
        <p:nvSpPr>
          <p:cNvPr id="70" name="Shape 68"/>
          <p:cNvSpPr/>
          <p:nvPr/>
        </p:nvSpPr>
        <p:spPr>
          <a:xfrm>
            <a:off x="3840480" y="4535424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904488" y="4535424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real-time detector</a:t>
            </a:r>
            <a:endParaRPr lang="en-US" sz="980" dirty="0"/>
          </a:p>
        </p:txBody>
      </p:sp>
      <p:sp>
        <p:nvSpPr>
          <p:cNvPr id="72" name="Shape 70"/>
          <p:cNvSpPr/>
          <p:nvPr/>
        </p:nvSpPr>
        <p:spPr>
          <a:xfrm>
            <a:off x="5852160" y="4535424"/>
            <a:ext cx="27432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916168" y="4535424"/>
            <a:ext cx="2615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detection at low latency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8595360" y="4535424"/>
            <a:ext cx="2926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659368" y="4535424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enough boxes per class to learn materials</a:t>
            </a:r>
            <a:endParaRPr lang="en-US" sz="980" dirty="0"/>
          </a:p>
        </p:txBody>
      </p:sp>
      <p:sp>
        <p:nvSpPr>
          <p:cNvPr id="76" name="Shape 74"/>
          <p:cNvSpPr/>
          <p:nvPr/>
        </p:nvSpPr>
        <p:spPr>
          <a:xfrm>
            <a:off x="640080" y="5202936"/>
            <a:ext cx="4114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04088" y="5202936"/>
            <a:ext cx="283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0" dirty="0"/>
          </a:p>
        </p:txBody>
      </p:sp>
      <p:sp>
        <p:nvSpPr>
          <p:cNvPr id="78" name="Shape 76"/>
          <p:cNvSpPr/>
          <p:nvPr/>
        </p:nvSpPr>
        <p:spPr>
          <a:xfrm>
            <a:off x="1051560" y="5202936"/>
            <a:ext cx="22402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115568" y="5202936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Guo et al., ICML</a:t>
            </a:r>
            <a:endParaRPr lang="en-US" sz="980" dirty="0"/>
          </a:p>
        </p:txBody>
      </p:sp>
      <p:sp>
        <p:nvSpPr>
          <p:cNvPr id="80" name="Shape 78"/>
          <p:cNvSpPr/>
          <p:nvPr/>
        </p:nvSpPr>
        <p:spPr>
          <a:xfrm>
            <a:off x="3291840" y="5202936"/>
            <a:ext cx="54864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355848" y="5202936"/>
            <a:ext cx="420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80" dirty="0"/>
          </a:p>
        </p:txBody>
      </p:sp>
      <p:sp>
        <p:nvSpPr>
          <p:cNvPr id="82" name="Shape 80"/>
          <p:cNvSpPr/>
          <p:nvPr/>
        </p:nvSpPr>
        <p:spPr>
          <a:xfrm>
            <a:off x="3840480" y="5202936"/>
            <a:ext cx="20116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904488" y="5202936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on network logits</a:t>
            </a:r>
            <a:endParaRPr lang="en-US" sz="980" dirty="0"/>
          </a:p>
        </p:txBody>
      </p:sp>
      <p:sp>
        <p:nvSpPr>
          <p:cNvPr id="84" name="Shape 82"/>
          <p:cNvSpPr/>
          <p:nvPr/>
        </p:nvSpPr>
        <p:spPr>
          <a:xfrm>
            <a:off x="5852160" y="5202936"/>
            <a:ext cx="274320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916168" y="5202936"/>
            <a:ext cx="2615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are systematically overconfident</a:t>
            </a:r>
            <a:endParaRPr lang="en-US" sz="980" dirty="0"/>
          </a:p>
        </p:txBody>
      </p:sp>
      <p:sp>
        <p:nvSpPr>
          <p:cNvPr id="86" name="Shape 84"/>
          <p:cNvSpPr/>
          <p:nvPr/>
        </p:nvSpPr>
        <p:spPr>
          <a:xfrm>
            <a:off x="8595360" y="5202936"/>
            <a:ext cx="2926080" cy="667512"/>
          </a:xfrm>
          <a:prstGeom prst="rect">
            <a:avLst/>
          </a:prstGeom>
          <a:solidFill>
            <a:srgbClr val="F3F0FC"/>
          </a:solidFill>
          <a:ln w="6350">
            <a:solidFill>
              <a:srgbClr val="E4DFF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659368" y="5202936"/>
            <a:ext cx="27980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benchmarks, not to a deployed abstention rule</a:t>
            </a:r>
            <a:endParaRPr lang="en-US" sz="980" dirty="0"/>
          </a:p>
        </p:txBody>
      </p:sp>
      <p:sp>
        <p:nvSpPr>
          <p:cNvPr id="88" name="Text 86"/>
          <p:cNvSpPr txBox="1"/>
          <p:nvPr/>
        </p:nvSpPr>
        <p:spPr>
          <a:xfrm>
            <a:off x="640080" y="59984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and model listed is used in this project; the gap column states why each alone is insufficient.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00784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frame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299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classifiers are trained and evaluated on single clean objects. A photograph of a real bin holds several materials, and a single-label model returns one answer for all of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700784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12864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do not look like bins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299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are studio or stock photographs. A model measured on them reports a score for a different problem from the one a municipality has.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62656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182112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sensing assumes hardware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5112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work presumes bin-mounted sensors. That is a recurring per-bin cost most municipalities will not carry.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962656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182112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reported, not calibrated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5112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prediction is presented as confidently as a right one, so there is no principled point at which the system should decline to answer.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43984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6634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35024" y="46451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work is undocumented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499262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collectors perform most recovery, with no verifiable record that a lender, employer or municipal contract can accept.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1B1130"/>
          </a:solidFill>
          <a:ln w="12700">
            <a:solidFill>
              <a:srgbClr val="1B113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01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Segregate a photographed pile of waste into materials, and turn citizen reports into collection decisions — without installing hardware on a single bin.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4988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material classes, plus a tenth for photographs holding no discardable item.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53619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481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before classifying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76479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every discardable object in a frame, then name the material of each crop separately.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92040" y="234086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86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confidence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56946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temperature scaling and per-class cutoffs so the system declines rather than guesses.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314553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0906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sensors with people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337413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fill level from geotagged citizen reports, weighted by each reporter's accepted history.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92040" y="395020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895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from today's reports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417880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collection from bins actually reported full instead of a fixed circuit.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92040" y="47548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47000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recovery work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49834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collectors photo-verified tasks and a tamper-evident history of what they cleared.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373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58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label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786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 ingested under one policy: TrashNet, TACO crops, Kaggle garbage, Open Images. Labelled by what the item is made of.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8132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7373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258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without leakage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786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Group-aware stratified split by object id, so two photographs of one object cannot land in different splits.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7373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258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in two phases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5786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 at 1e-3 to settle the new head, then the whole network fine-tuned at 1e-4.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7947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and threshold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6360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fitted on validation; per-class cutoffs decide when to answer 'uncertain'.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53872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7947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crop, classify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360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 YOLOv8n finds items; each padded crop goes to the classifier.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538728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7947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and measure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6360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ONNX with verified parity, then measured end to end on held-out data.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Two-Stage Vision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64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pile,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31720" y="2075688"/>
            <a:ext cx="146304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148132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15184" y="1664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15184" y="2011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97096" y="2075688"/>
            <a:ext cx="146304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0832" y="148132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80560" y="1664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011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padding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2472" y="2075688"/>
            <a:ext cx="146304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6208" y="148132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45936" y="1664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011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MobileNetV3-Small,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materials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27848" y="2075688"/>
            <a:ext cx="146304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1584" y="148132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11312" y="1664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011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+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cutoff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93224" y="2075688"/>
            <a:ext cx="146304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6960" y="1481328"/>
            <a:ext cx="1664208" cy="1371600"/>
          </a:xfrm>
          <a:prstGeom prst="roundRect">
            <a:avLst>
              <a:gd name="adj" fmla="val 5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76688" y="16642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76688" y="2011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item +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share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172968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EEEAFF"/>
          </a:solidFill>
          <a:ln w="12700">
            <a:solidFill>
              <a:srgbClr val="D7CCFB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3355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models, not one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6758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shown five objects returns one label for the frame. The detector answers “where are the items”, which has thousands of boxes to learn from; the classifier answers “what is this made of” on one crop at a time.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3172968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492240" y="3355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tenth class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6758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asked to choose among nine materials answers confidently even for a blank wall. A NotWaste class lets it choose “none of these” instead, and the detector's own false positives are dropped the same way.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classes predicted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155448" cy="1554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56232" y="5120640"/>
            <a:ext cx="155448" cy="1554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075688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72384" y="5120640"/>
            <a:ext cx="155448" cy="15544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291840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88536" y="5120640"/>
            <a:ext cx="155448" cy="1554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07992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04688" y="5120640"/>
            <a:ext cx="155448" cy="1554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724144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20840" y="5120640"/>
            <a:ext cx="155448" cy="1554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940296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936992" y="5120640"/>
            <a:ext cx="155448" cy="15544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156448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53144" y="5120640"/>
            <a:ext cx="155448" cy="155448"/>
          </a:xfrm>
          <a:prstGeom prst="ellipse">
            <a:avLst/>
          </a:prstGeom>
          <a:solidFill>
            <a:srgbClr val="A1620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372600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369296" y="5120640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588752" y="5084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Modules in Detail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99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Waste Scanner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modes. One item fills the frame, or a mixed pile is segregated item by item. Each result carries a calibrated confidence and is marked uncertain below its class cutoff.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780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414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Crowd-Sensing Bin Network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2491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Geotagged citizen reports replace fill-level hardware. Four screening rules run on every submission — duplicate image hash, distance from the bin, report frequency, reporter reputation. Rejected reports are stored as rejected, so the rejection rate stays measurable.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83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667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still usable are offered to someone nearby, with a scanned QR handover so neither side is taken on trust.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61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25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Formalization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60857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assigned from open reports and closed with before and after photographs. Each completion is appended to a hash-chained ledger, verified on every read; update and delete are blocked at the model.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03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669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Ward Map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5504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with nearest-neighbour and 2-opt improvement plans collection from today's accepted reports rather than a fixed circuit.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 ·  MobileNetV3-Small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classes  ·  3,170 images  ·  held-out test set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0.073 → 0.018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481328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1645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 ·  YOLOv8n, class-agnostic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 annotated photographs  ·  threshold 0.15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 / 0.627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198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on the test set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4198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26.5% mean distance saved vs a fixed circuit at 20–50% occupancy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730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83080" y="3794760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3794760"/>
            <a:ext cx="3173517" cy="118872"/>
          </a:xfrm>
          <a:prstGeom prst="roundRect">
            <a:avLst>
              <a:gd name="adj" fmla="val 46154"/>
            </a:avLst>
          </a:prstGeom>
          <a:solidFill>
            <a:srgbClr val="16A3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57800" y="37307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83080" y="4050792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30" name="Shape 28"/>
          <p:cNvSpPr/>
          <p:nvPr/>
        </p:nvSpPr>
        <p:spPr>
          <a:xfrm>
            <a:off x="1783080" y="4050792"/>
            <a:ext cx="3034802" cy="118872"/>
          </a:xfrm>
          <a:prstGeom prst="roundRect">
            <a:avLst>
              <a:gd name="adj" fmla="val 46154"/>
            </a:avLst>
          </a:prstGeom>
          <a:solidFill>
            <a:srgbClr val="EC48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257800" y="39867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0.897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2428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783080" y="4306824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34" name="Shape 32"/>
          <p:cNvSpPr/>
          <p:nvPr/>
        </p:nvSpPr>
        <p:spPr>
          <a:xfrm>
            <a:off x="1783080" y="4306824"/>
            <a:ext cx="3007736" cy="118872"/>
          </a:xfrm>
          <a:prstGeom prst="roundRect">
            <a:avLst>
              <a:gd name="adj" fmla="val 46154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57800" y="4242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498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83080" y="4562856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38" name="Shape 36"/>
          <p:cNvSpPr/>
          <p:nvPr/>
        </p:nvSpPr>
        <p:spPr>
          <a:xfrm>
            <a:off x="1783080" y="4562856"/>
            <a:ext cx="2943454" cy="118872"/>
          </a:xfrm>
          <a:prstGeom prst="roundRect">
            <a:avLst>
              <a:gd name="adj" fmla="val 46154"/>
            </a:avLst>
          </a:prstGeom>
          <a:solidFill>
            <a:srgbClr val="8B5CF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57800" y="44988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83080" y="4818888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42" name="Shape 40"/>
          <p:cNvSpPr/>
          <p:nvPr/>
        </p:nvSpPr>
        <p:spPr>
          <a:xfrm>
            <a:off x="1783080" y="4818888"/>
            <a:ext cx="2892704" cy="118872"/>
          </a:xfrm>
          <a:prstGeom prst="roundRect">
            <a:avLst>
              <a:gd name="adj" fmla="val 46154"/>
            </a:avLst>
          </a:prstGeom>
          <a:solidFill>
            <a:srgbClr val="D9770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57800" y="4754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17920" y="3730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60920" y="3794760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46" name="Shape 44"/>
          <p:cNvSpPr/>
          <p:nvPr/>
        </p:nvSpPr>
        <p:spPr>
          <a:xfrm>
            <a:off x="7360920" y="3794760"/>
            <a:ext cx="2882555" cy="118872"/>
          </a:xfrm>
          <a:prstGeom prst="roundRect">
            <a:avLst>
              <a:gd name="adj" fmla="val 46154"/>
            </a:avLst>
          </a:prstGeom>
          <a:solidFill>
            <a:srgbClr val="06B6D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835640" y="37307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0.852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217920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60920" y="4050792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4050792"/>
            <a:ext cx="2774290" cy="118872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835640" y="39867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2428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60920" y="4306824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54" name="Shape 52"/>
          <p:cNvSpPr/>
          <p:nvPr/>
        </p:nvSpPr>
        <p:spPr>
          <a:xfrm>
            <a:off x="7360920" y="4306824"/>
            <a:ext cx="2642342" cy="118872"/>
          </a:xfrm>
          <a:prstGeom prst="roundRect">
            <a:avLst>
              <a:gd name="adj" fmla="val 46154"/>
            </a:avLst>
          </a:prstGeom>
          <a:solidFill>
            <a:srgbClr val="64748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835640" y="42428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498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NotWaste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60920" y="4562856"/>
            <a:ext cx="3383280" cy="118872"/>
          </a:xfrm>
          <a:prstGeom prst="roundRect">
            <a:avLst>
              <a:gd name="adj" fmla="val 46154"/>
            </a:avLst>
          </a:prstGeom>
          <a:solidFill>
            <a:srgbClr val="E9E4F7"/>
          </a:solidFill>
          <a:ln/>
        </p:spPr>
      </p:sp>
      <p:sp>
        <p:nvSpPr>
          <p:cNvPr id="58" name="Shape 56"/>
          <p:cNvSpPr/>
          <p:nvPr/>
        </p:nvSpPr>
        <p:spPr>
          <a:xfrm>
            <a:off x="7360920" y="4562856"/>
            <a:ext cx="2067184" cy="118872"/>
          </a:xfrm>
          <a:prstGeom prst="roundRect">
            <a:avLst>
              <a:gd name="adj" fmla="val 46154"/>
            </a:avLst>
          </a:prstGeom>
          <a:solidFill>
            <a:srgbClr val="9B93B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835640" y="44988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5138928"/>
            <a:ext cx="10881360" cy="1261872"/>
          </a:xfrm>
          <a:prstGeom prst="roundRect">
            <a:avLst>
              <a:gd name="adj" fmla="val 5797"/>
            </a:avLst>
          </a:prstGeom>
          <a:solidFill>
            <a:srgbClr val="FFF7ED"/>
          </a:solidFill>
          <a:ln w="12700">
            <a:solidFill>
              <a:srgbClr val="FCD9A8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914400" y="52669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limits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914400" y="5522976"/>
            <a:ext cx="10332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training and test images are public dataset photographs, so every score above is an upper bound rather than a field measurement.</a:t>
            </a:r>
            <a:endParaRPr lang="en-US" sz="10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has no training data — the model is trained on 9 of the 10 declared classes and cannot predict it. NotWaste recall is 0.524, so the model still names a material for about half of the photographs holding no discardable item.</a:t>
            </a:r>
            <a:endParaRPr lang="en-US" sz="10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stages are measured separately; no end-to-end score yet exists for pile in, breakdown out.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556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segregation works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762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detection from classification lets one photograph of a mixed bin return a per-item material breakdown, which a single classifier cannot do.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303520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7556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1737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changes the failure mode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762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cut calibration error from 0.073 to 0.018, so a weak prediction is now visible as weak instead of being asserted.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5303520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replaced the sensors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050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Geotagged reports, weighted by reporter history and screened by four anti-gaming rules, drive routing with no hardware on any bin.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17920" y="3310128"/>
            <a:ext cx="5303520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DFF0"/>
            </a:solidFill>
            <a:prstDash val="solid"/>
          </a:ln>
          <a:effectLst>
            <a:outerShdw sx="100000" sy="100000" kx="0" ky="0" algn="bl" rotWithShape="0" blurRad="127000" dist="25400" dir="5400000">
              <a:srgbClr val="6B5B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5844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runs end to end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005072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20" dirty="0">
                <a:solidFill>
                  <a:srgbClr val="46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 on one stack — scanner, bin network, exchange, collector ledger and routing — with every screen served from the database.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finish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335024"/>
          </a:xfrm>
          <a:prstGeom prst="roundRect">
            <a:avLst>
              <a:gd name="adj" fmla="val 5479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1226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939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collected photographs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963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shot in Bhimavaram, so the held-out set stops being public studio images and the reported score becomes a field measurement.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1335024"/>
          </a:xfrm>
          <a:prstGeom prst="roundRect">
            <a:avLst>
              <a:gd name="adj" fmla="val 5479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1226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0939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Wood class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4963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100 photographs of wooden items, which no public dataset covers honestly, to make the model genuinely 10-class.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10712"/>
            <a:ext cx="5303520" cy="1335024"/>
          </a:xfrm>
          <a:prstGeom prst="roundRect">
            <a:avLst>
              <a:gd name="adj" fmla="val 5479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4845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630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NotWaste recall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3250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of walls, floors, hands and furniture, so the model declines when it should.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410712"/>
            <a:ext cx="5303520" cy="1335024"/>
          </a:xfrm>
          <a:prstGeom prst="roundRect">
            <a:avLst>
              <a:gd name="adj" fmla="val 5479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648456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3630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evaluation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03250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piles with per-item material boxes, giving the first score for the task the product actually performs.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946904"/>
            <a:ext cx="5303520" cy="1335024"/>
          </a:xfrm>
          <a:prstGeom prst="roundRect">
            <a:avLst>
              <a:gd name="adj" fmla="val 5479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1846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166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" y="556869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ONNX bundle is 6.1 MB at 4.7 ms per image; a TFLite path would let the scan run without a network.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946904"/>
            <a:ext cx="5303520" cy="1335024"/>
          </a:xfrm>
          <a:prstGeom prst="roundRect">
            <a:avLst>
              <a:gd name="adj" fmla="val 5479"/>
            </a:avLst>
          </a:prstGeom>
          <a:solidFill>
            <a:srgbClr val="2A1B4A"/>
          </a:solidFill>
          <a:ln w="12700">
            <a:solidFill>
              <a:srgbClr val="3C2A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51846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5166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pilot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510528" y="556869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wards, and measure routing savings against real collection logs rather than simulation.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LifeLoop — Project Review</dc:title>
  <dc:subject>PptxGenJS Presentation</dc:subject>
  <dc:creator>LifeLoop</dc:creator>
  <cp:lastModifiedBy>LifeLoop</cp:lastModifiedBy>
  <cp:revision>1</cp:revision>
  <dcterms:created xsi:type="dcterms:W3CDTF">2026-09-18T11:08:08Z</dcterms:created>
  <dcterms:modified xsi:type="dcterms:W3CDTF">2026-09-18T11:08:08Z</dcterms:modified>
</cp:coreProperties>
</file>